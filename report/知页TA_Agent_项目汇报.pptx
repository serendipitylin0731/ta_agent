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Relationship Id="rId4" Type="http://schemas.openxmlformats.org/officeDocument/2006/relationships/image" Target="../media/image5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://127.0.0.1:8000/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mailto:serendipity_lin@sjtu.edu.cn" TargetMode="External"/><Relationship Id="rId3" Type="http://schemas.openxmlformats.org/officeDocument/2006/relationships/hyperlink" Target="https://serendipitylin0731.github.io/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1261872"/>
            <a:ext cx="118872" cy="3246120"/>
          </a:xfrm>
          <a:prstGeom prst="rect">
            <a:avLst/>
          </a:prstGeom>
          <a:solidFill>
            <a:srgbClr val="6FA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292608"/>
            <a:ext cx="438912" cy="438912"/>
          </a:xfrm>
          <a:prstGeom prst="roundRect">
            <a:avLst>
              <a:gd name="adj" fmla="val 13000"/>
            </a:avLst>
          </a:prstGeom>
          <a:solidFill>
            <a:srgbClr val="E6F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8660" y="315468"/>
            <a:ext cx="33832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900" b="1">
                <a:solidFill>
                  <a:srgbClr val="39795D"/>
                </a:solidFill>
                <a:latin typeface="Noto Sans CJK SC"/>
              </a:rPr>
              <a:t>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5295" y="338328"/>
            <a:ext cx="233172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600" b="1">
                <a:solidFill>
                  <a:srgbClr val="FFFFFF"/>
                </a:solidFill>
                <a:latin typeface="Noto Sans CJK SC"/>
              </a:rPr>
              <a:t>知页 TA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234440"/>
            <a:ext cx="52120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600" b="1">
                <a:solidFill>
                  <a:srgbClr val="A7C9B7"/>
                </a:solidFill>
                <a:latin typeface="Noto Sans CJK SC"/>
              </a:rPr>
              <a:t>教材知识库 × 智能问答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1828800"/>
            <a:ext cx="53949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3800" b="1">
                <a:solidFill>
                  <a:srgbClr val="FFFFFF"/>
                </a:solidFill>
                <a:latin typeface="Noto Sans CJK SC"/>
              </a:rPr>
              <a:t>知页 TA 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2761488"/>
            <a:ext cx="5074920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500" b="1">
                <a:solidFill>
                  <a:srgbClr val="FFFFFF"/>
                </a:solidFill>
                <a:latin typeface="Noto Sans CJK SC"/>
              </a:rPr>
              <a:t>让每个教学回答</a:t>
            </a:r>
            <a:br/>
            <a:r>
              <a:rPr sz="2500" b="1">
                <a:solidFill>
                  <a:srgbClr val="FFFFFF"/>
                </a:solidFill>
                <a:latin typeface="Noto Sans CJK SC"/>
              </a:rPr>
              <a:t>都能回到教材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480560"/>
            <a:ext cx="521208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>
                <a:solidFill>
                  <a:srgbClr val="B8D0C7"/>
                </a:solidFill>
                <a:latin typeface="Noto Sans CJK SC"/>
              </a:rPr>
              <a:t>面向初高中师生的教材检索、问答与阅读平台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45936" y="1353312"/>
            <a:ext cx="5166360" cy="4023360"/>
          </a:xfrm>
          <a:prstGeom prst="roundRect">
            <a:avLst>
              <a:gd name="adj" fmla="val 13000"/>
            </a:avLst>
          </a:prstGeom>
          <a:solidFill>
            <a:srgbClr val="203D49"/>
          </a:solidFill>
          <a:ln w="10160">
            <a:solidFill>
              <a:srgbClr val="527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0528" y="1517904"/>
            <a:ext cx="4837176" cy="37033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69264" y="5650992"/>
            <a:ext cx="11887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2500" b="1">
                <a:solidFill>
                  <a:srgbClr val="FFFFFF"/>
                </a:solidFill>
                <a:latin typeface="Noto Sans CJK SC"/>
              </a:rPr>
              <a:t>113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" y="6071616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A7C9B7"/>
                </a:solidFill>
                <a:latin typeface="Noto Sans CJK SC"/>
              </a:rPr>
              <a:t>册教材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96312" y="5650992"/>
            <a:ext cx="11887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2500" b="1">
                <a:solidFill>
                  <a:srgbClr val="FFFFFF"/>
                </a:solidFill>
                <a:latin typeface="Noto Sans CJK SC"/>
              </a:rPr>
              <a:t>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96312" y="6071616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A7C9B7"/>
                </a:solidFill>
                <a:latin typeface="Noto Sans CJK SC"/>
              </a:rPr>
              <a:t>个目录位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41648" y="5650992"/>
            <a:ext cx="11887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2500" b="1">
                <a:solidFill>
                  <a:srgbClr val="FFFFFF"/>
                </a:solidFill>
                <a:latin typeface="Noto Sans CJK SC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41648" y="6071616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A7C9B7"/>
                </a:solidFill>
                <a:latin typeface="Noto Sans CJK SC"/>
              </a:rPr>
              <a:t>个使用入口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6473952"/>
            <a:ext cx="10844784" cy="9144"/>
          </a:xfrm>
          <a:prstGeom prst="rect">
            <a:avLst/>
          </a:prstGeom>
          <a:solidFill>
            <a:srgbClr val="416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" y="6519672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>
                <a:solidFill>
                  <a:srgbClr val="9AB8AB"/>
                </a:solidFill>
                <a:latin typeface="Noto Sans CJK SC"/>
              </a:rPr>
              <a:t>知页 TA Agent · 教学研究原型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6519672"/>
            <a:ext cx="89611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850" b="0">
                <a:solidFill>
                  <a:srgbClr val="9AB8AB"/>
                </a:solidFill>
                <a:latin typeface="Noto Sans CJK SC"/>
              </a:rPr>
              <a:t>01 / 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8368" y="292608"/>
            <a:ext cx="438912" cy="438912"/>
          </a:xfrm>
          <a:prstGeom prst="roundRect">
            <a:avLst>
              <a:gd name="adj" fmla="val 13000"/>
            </a:avLst>
          </a:prstGeom>
          <a:solidFill>
            <a:srgbClr val="3979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8660" y="315468"/>
            <a:ext cx="33832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900" b="1">
                <a:solidFill>
                  <a:srgbClr val="FFFFFF"/>
                </a:solidFill>
                <a:latin typeface="Noto Sans CJK SC"/>
              </a:rPr>
              <a:t>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25295" y="338328"/>
            <a:ext cx="233172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600" b="1">
                <a:solidFill>
                  <a:srgbClr val="142F3C"/>
                </a:solidFill>
                <a:latin typeface="Noto Sans CJK SC"/>
              </a:rPr>
              <a:t>知页 TA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987552"/>
            <a:ext cx="107899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>
                <a:solidFill>
                  <a:srgbClr val="39795D"/>
                </a:solidFill>
                <a:latin typeface="Noto Sans CJK SC"/>
              </a:rPr>
              <a:t>01 · WHY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07592"/>
            <a:ext cx="10881360" cy="5212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2800" b="1">
                <a:solidFill>
                  <a:srgbClr val="142F3C"/>
                </a:solidFill>
                <a:latin typeface="Noto Sans CJK SC"/>
              </a:rPr>
              <a:t>一个教学问题，为什么需要知页？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1847088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>
                <a:solidFill>
                  <a:srgbClr val="668079"/>
                </a:solidFill>
                <a:latin typeface="Noto Sans CJK SC"/>
              </a:rPr>
              <a:t>从“知道答案”走向“找到教材依据”。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" y="2468880"/>
            <a:ext cx="5257800" cy="80467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77824" y="2642616"/>
            <a:ext cx="429768" cy="429768"/>
          </a:xfrm>
          <a:prstGeom prst="ellipse">
            <a:avLst/>
          </a:prstGeom>
          <a:solidFill>
            <a:srgbClr val="E6F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8115" y="2674620"/>
            <a:ext cx="329184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1">
                <a:solidFill>
                  <a:srgbClr val="39795D"/>
                </a:solidFill>
                <a:latin typeface="Noto Sans CJK SC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53896" y="2578608"/>
            <a:ext cx="42976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550" b="1">
                <a:solidFill>
                  <a:srgbClr val="142F3C"/>
                </a:solidFill>
                <a:latin typeface="Noto Sans CJK SC"/>
              </a:rPr>
              <a:t>教材分散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53896" y="2862072"/>
            <a:ext cx="427939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080" b="0">
                <a:solidFill>
                  <a:srgbClr val="668079"/>
                </a:solidFill>
                <a:latin typeface="Noto Sans CJK SC"/>
              </a:rPr>
              <a:t>不同学段、学科与册次分散存放，找原文费时。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6656" y="3447288"/>
            <a:ext cx="5257800" cy="80467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77824" y="3621024"/>
            <a:ext cx="429768" cy="429768"/>
          </a:xfrm>
          <a:prstGeom prst="ellipse">
            <a:avLst/>
          </a:prstGeom>
          <a:solidFill>
            <a:srgbClr val="E6F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8115" y="3653028"/>
            <a:ext cx="329184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1">
                <a:solidFill>
                  <a:srgbClr val="39795D"/>
                </a:solidFill>
                <a:latin typeface="Noto Sans CJK SC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53896" y="3557016"/>
            <a:ext cx="42976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550" b="1">
                <a:solidFill>
                  <a:srgbClr val="142F3C"/>
                </a:solidFill>
                <a:latin typeface="Noto Sans CJK SC"/>
              </a:rPr>
              <a:t>说法不一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53896" y="3840480"/>
            <a:ext cx="427939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080" b="0">
                <a:solidFill>
                  <a:srgbClr val="668079"/>
                </a:solidFill>
                <a:latin typeface="Noto Sans CJK SC"/>
              </a:rPr>
              <a:t>学生的自然提问与教材用语未必一致。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6656" y="4425696"/>
            <a:ext cx="5257800" cy="80467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77824" y="4599432"/>
            <a:ext cx="429768" cy="429768"/>
          </a:xfrm>
          <a:prstGeom prst="ellipse">
            <a:avLst/>
          </a:prstGeom>
          <a:solidFill>
            <a:srgbClr val="E6F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8115" y="4631436"/>
            <a:ext cx="329184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1">
                <a:solidFill>
                  <a:srgbClr val="39795D"/>
                </a:solidFill>
                <a:latin typeface="Noto Sans CJK SC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53896" y="4535424"/>
            <a:ext cx="42976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550" b="1">
                <a:solidFill>
                  <a:srgbClr val="142F3C"/>
                </a:solidFill>
                <a:latin typeface="Noto Sans CJK SC"/>
              </a:rPr>
              <a:t>答案难核验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53896" y="4818888"/>
            <a:ext cx="427939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080" b="0">
                <a:solidFill>
                  <a:srgbClr val="668079"/>
                </a:solidFill>
                <a:latin typeface="Noto Sans CJK SC"/>
              </a:rPr>
              <a:t>只有结论、没有书名和页码，不便课堂使用。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99632" y="2468880"/>
            <a:ext cx="5285232" cy="308152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5936" y="2624328"/>
            <a:ext cx="4992624" cy="242316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400800" y="5120640"/>
            <a:ext cx="48920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040" b="0">
                <a:solidFill>
                  <a:srgbClr val="668079"/>
                </a:solidFill>
                <a:latin typeface="Noto Sans CJK SC"/>
              </a:rPr>
              <a:t>原版教材可在系统内双页翻阅，直接核对引用。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76656" y="5742432"/>
            <a:ext cx="10808208" cy="457200"/>
          </a:xfrm>
          <a:prstGeom prst="roundRect">
            <a:avLst>
              <a:gd name="adj" fmla="val 13000"/>
            </a:avLst>
          </a:prstGeom>
          <a:solidFill>
            <a:srgbClr val="E6F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5797296"/>
            <a:ext cx="103327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>
                <a:solidFill>
                  <a:srgbClr val="39795D"/>
                </a:solidFill>
                <a:latin typeface="Noto Sans CJK SC"/>
              </a:rPr>
              <a:t>目标路径    自然提问  →  找到教材页  →  整理成答案  →  回到原文核验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6473952"/>
            <a:ext cx="10844784" cy="9144"/>
          </a:xfrm>
          <a:prstGeom prst="rect">
            <a:avLst/>
          </a:prstGeom>
          <a:solidFill>
            <a:srgbClr val="D8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6656" y="6519672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>
                <a:solidFill>
                  <a:srgbClr val="668079"/>
                </a:solidFill>
                <a:latin typeface="Noto Sans CJK SC"/>
              </a:rPr>
              <a:t>知页 TA Agent · 教学研究原型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07040" y="6519672"/>
            <a:ext cx="89611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850" b="0">
                <a:solidFill>
                  <a:srgbClr val="668079"/>
                </a:solidFill>
                <a:latin typeface="Noto Sans CJK SC"/>
              </a:rPr>
              <a:t>02 / 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8368" y="292608"/>
            <a:ext cx="438912" cy="438912"/>
          </a:xfrm>
          <a:prstGeom prst="roundRect">
            <a:avLst>
              <a:gd name="adj" fmla="val 13000"/>
            </a:avLst>
          </a:prstGeom>
          <a:solidFill>
            <a:srgbClr val="3979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8660" y="315468"/>
            <a:ext cx="33832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900" b="1">
                <a:solidFill>
                  <a:srgbClr val="FFFFFF"/>
                </a:solidFill>
                <a:latin typeface="Noto Sans CJK SC"/>
              </a:rPr>
              <a:t>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25295" y="338328"/>
            <a:ext cx="233172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600" b="1">
                <a:solidFill>
                  <a:srgbClr val="142F3C"/>
                </a:solidFill>
                <a:latin typeface="Noto Sans CJK SC"/>
              </a:rPr>
              <a:t>知页 TA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987552"/>
            <a:ext cx="107899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>
                <a:solidFill>
                  <a:srgbClr val="39795D"/>
                </a:solidFill>
                <a:latin typeface="Noto Sans CJK SC"/>
              </a:rPr>
              <a:t>02 · EXPERIENCE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07592"/>
            <a:ext cx="10881360" cy="5212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2800" b="1">
                <a:solidFill>
                  <a:srgbClr val="142F3C"/>
                </a:solidFill>
                <a:latin typeface="Noto Sans CJK SC"/>
              </a:rPr>
              <a:t>三个入口，覆盖“问、找、读”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1847088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>
                <a:solidFill>
                  <a:srgbClr val="668079"/>
                </a:solidFill>
                <a:latin typeface="Noto Sans CJK SC"/>
              </a:rPr>
              <a:t>同一份教材数据，服务不同的学习动作。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432304"/>
            <a:ext cx="3291840" cy="360273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2587752"/>
            <a:ext cx="2999232" cy="20299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22959" y="4773168"/>
            <a:ext cx="295351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700" b="1">
                <a:solidFill>
                  <a:srgbClr val="142F3C"/>
                </a:solidFill>
                <a:latin typeface="Noto Sans CJK SC"/>
              </a:rPr>
              <a:t>01  Chat 问答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5202936"/>
            <a:ext cx="2953512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20" b="0">
                <a:solidFill>
                  <a:srgbClr val="668079"/>
                </a:solidFill>
                <a:latin typeface="Noto Sans CJK SC"/>
              </a:rPr>
              <a:t>跨页整合解释，并标出教材与 PDF 页码。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53128" y="2432304"/>
            <a:ext cx="3291840" cy="360273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9432" y="2587752"/>
            <a:ext cx="2999232" cy="202996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617720" y="4773168"/>
            <a:ext cx="295351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700" b="1">
                <a:solidFill>
                  <a:srgbClr val="142F3C"/>
                </a:solidFill>
                <a:latin typeface="Noto Sans CJK SC"/>
              </a:rPr>
              <a:t>02  查询原文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5202936"/>
            <a:ext cx="2953512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20" b="0">
                <a:solidFill>
                  <a:srgbClr val="668079"/>
                </a:solidFill>
                <a:latin typeface="Noto Sans CJK SC"/>
              </a:rPr>
              <a:t>模糊查找，按书合并并展示关键页。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47888" y="2432304"/>
            <a:ext cx="3291840" cy="360273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4192" y="2587752"/>
            <a:ext cx="2999232" cy="202996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412480" y="4773168"/>
            <a:ext cx="295351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700" b="1">
                <a:solidFill>
                  <a:srgbClr val="142F3C"/>
                </a:solidFill>
                <a:latin typeface="Noto Sans CJK SC"/>
              </a:rPr>
              <a:t>03  阅读教材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5202936"/>
            <a:ext cx="2953512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20" b="0">
                <a:solidFill>
                  <a:srgbClr val="668079"/>
                </a:solidFill>
                <a:latin typeface="Noto Sans CJK SC"/>
              </a:rPr>
              <a:t>双页翻阅、键盘翻页和命中页跳转。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6473952"/>
            <a:ext cx="10844784" cy="9144"/>
          </a:xfrm>
          <a:prstGeom prst="rect">
            <a:avLst/>
          </a:prstGeom>
          <a:solidFill>
            <a:srgbClr val="D8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6656" y="6519672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>
                <a:solidFill>
                  <a:srgbClr val="668079"/>
                </a:solidFill>
                <a:latin typeface="Noto Sans CJK SC"/>
              </a:rPr>
              <a:t>知页 TA Agent · 教学研究原型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0" y="6519672"/>
            <a:ext cx="89611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850" b="0">
                <a:solidFill>
                  <a:srgbClr val="668079"/>
                </a:solidFill>
                <a:latin typeface="Noto Sans CJK SC"/>
              </a:rPr>
              <a:t>03 / 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8368" y="292608"/>
            <a:ext cx="438912" cy="438912"/>
          </a:xfrm>
          <a:prstGeom prst="roundRect">
            <a:avLst>
              <a:gd name="adj" fmla="val 13000"/>
            </a:avLst>
          </a:prstGeom>
          <a:solidFill>
            <a:srgbClr val="3979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8660" y="315468"/>
            <a:ext cx="33832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900" b="1">
                <a:solidFill>
                  <a:srgbClr val="FFFFFF"/>
                </a:solidFill>
                <a:latin typeface="Noto Sans CJK SC"/>
              </a:rPr>
              <a:t>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25295" y="338328"/>
            <a:ext cx="233172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600" b="1">
                <a:solidFill>
                  <a:srgbClr val="142F3C"/>
                </a:solidFill>
                <a:latin typeface="Noto Sans CJK SC"/>
              </a:rPr>
              <a:t>知页 TA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987552"/>
            <a:ext cx="107899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>
                <a:solidFill>
                  <a:srgbClr val="39795D"/>
                </a:solidFill>
                <a:latin typeface="Noto Sans CJK SC"/>
              </a:rPr>
              <a:t>03 · HOW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07592"/>
            <a:ext cx="10881360" cy="5212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2800" b="1">
                <a:solidFill>
                  <a:srgbClr val="142F3C"/>
                </a:solidFill>
                <a:latin typeface="Noto Sans CJK SC"/>
              </a:rPr>
              <a:t>先检索证据，再生成回答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1847088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>
                <a:solidFill>
                  <a:srgbClr val="668079"/>
                </a:solidFill>
                <a:latin typeface="Noto Sans CJK SC"/>
              </a:rPr>
              <a:t>知识库仅收录教材；每条引用都能定位到真实 PDF 页。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" y="2432304"/>
            <a:ext cx="3456432" cy="98755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560320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>
                <a:solidFill>
                  <a:srgbClr val="39795D"/>
                </a:solidFill>
                <a:latin typeface="Noto Sans CJK SC"/>
              </a:rPr>
              <a:t>113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20824" y="2606040"/>
            <a:ext cx="1856231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120" b="1">
                <a:solidFill>
                  <a:srgbClr val="142F3C"/>
                </a:solidFill>
                <a:latin typeface="Noto Sans CJK SC"/>
              </a:rPr>
              <a:t>册已接入教材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25696" y="2432304"/>
            <a:ext cx="3456432" cy="98755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26864" y="2560320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>
                <a:solidFill>
                  <a:srgbClr val="39795D"/>
                </a:solidFill>
                <a:latin typeface="Noto Sans CJK SC"/>
              </a:rPr>
              <a:t>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79008" y="2606040"/>
            <a:ext cx="1856231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120" b="1">
                <a:solidFill>
                  <a:srgbClr val="142F3C"/>
                </a:solidFill>
                <a:latin typeface="Noto Sans CJK SC"/>
              </a:rPr>
              <a:t>个学科目录位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2432304"/>
            <a:ext cx="3456432" cy="98755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85048" y="2560320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>
                <a:solidFill>
                  <a:srgbClr val="39795D"/>
                </a:solidFill>
                <a:latin typeface="Noto Sans CJK SC"/>
              </a:rPr>
              <a:t>10 + 10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37192" y="2606040"/>
            <a:ext cx="1856231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120" b="1">
                <a:solidFill>
                  <a:srgbClr val="142F3C"/>
                </a:solidFill>
                <a:latin typeface="Noto Sans CJK SC"/>
              </a:rPr>
              <a:t>最近对话与检索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3895344"/>
            <a:ext cx="1892807" cy="822960"/>
          </a:xfrm>
          <a:prstGeom prst="roundRect">
            <a:avLst>
              <a:gd name="adj" fmla="val 13000"/>
            </a:avLst>
          </a:prstGeom>
          <a:solidFill>
            <a:srgbClr val="E6F1E9"/>
          </a:solidFill>
          <a:ln w="10160">
            <a:solidFill>
              <a:srgbClr val="D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86968" y="4096512"/>
            <a:ext cx="356616" cy="356616"/>
          </a:xfrm>
          <a:prstGeom prst="ellipse">
            <a:avLst/>
          </a:prstGeom>
          <a:solidFill>
            <a:srgbClr val="3979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4692" y="4183380"/>
            <a:ext cx="201168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000" b="1">
                <a:solidFill>
                  <a:srgbClr val="FFFFFF"/>
                </a:solidFill>
                <a:latin typeface="Noto Sans CJK SC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44168" y="4087368"/>
            <a:ext cx="10972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340" b="1">
                <a:solidFill>
                  <a:srgbClr val="142F3C"/>
                </a:solidFill>
                <a:latin typeface="Noto Sans CJK SC"/>
              </a:rPr>
              <a:t>教材 PDF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60904" y="4096512"/>
            <a:ext cx="34747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700" b="1">
                <a:solidFill>
                  <a:srgbClr val="39795D"/>
                </a:solidFill>
                <a:latin typeface="Noto Sans CJK SC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017520" y="3895344"/>
            <a:ext cx="1892807" cy="82296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191256" y="4096512"/>
            <a:ext cx="356616" cy="356616"/>
          </a:xfrm>
          <a:prstGeom prst="ellipse">
            <a:avLst/>
          </a:prstGeom>
          <a:solidFill>
            <a:srgbClr val="3979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68979" y="4183380"/>
            <a:ext cx="201168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000" b="1">
                <a:solidFill>
                  <a:srgbClr val="FFFFFF"/>
                </a:solidFill>
                <a:latin typeface="Noto Sans CJK SC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48456" y="4087368"/>
            <a:ext cx="10972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340" b="1">
                <a:solidFill>
                  <a:srgbClr val="142F3C"/>
                </a:solidFill>
                <a:latin typeface="Noto Sans CJK SC"/>
              </a:rPr>
              <a:t>分页索引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65192" y="4096512"/>
            <a:ext cx="34747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700" b="1">
                <a:solidFill>
                  <a:srgbClr val="39795D"/>
                </a:solidFill>
                <a:latin typeface="Noto Sans CJK SC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321808" y="3895344"/>
            <a:ext cx="1892807" cy="822960"/>
          </a:xfrm>
          <a:prstGeom prst="roundRect">
            <a:avLst>
              <a:gd name="adj" fmla="val 13000"/>
            </a:avLst>
          </a:prstGeom>
          <a:solidFill>
            <a:srgbClr val="E6F1E9"/>
          </a:solidFill>
          <a:ln w="10160">
            <a:solidFill>
              <a:srgbClr val="D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495544" y="4096512"/>
            <a:ext cx="356616" cy="356616"/>
          </a:xfrm>
          <a:prstGeom prst="ellipse">
            <a:avLst/>
          </a:prstGeom>
          <a:solidFill>
            <a:srgbClr val="3979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573268" y="4183380"/>
            <a:ext cx="201168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000" b="1">
                <a:solidFill>
                  <a:srgbClr val="FFFFFF"/>
                </a:solidFill>
                <a:latin typeface="Noto Sans CJK SC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52744" y="4087368"/>
            <a:ext cx="10972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340" b="1">
                <a:solidFill>
                  <a:srgbClr val="142F3C"/>
                </a:solidFill>
                <a:latin typeface="Noto Sans CJK SC"/>
              </a:rPr>
              <a:t>多词组检索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69480" y="4096512"/>
            <a:ext cx="34747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700" b="1">
                <a:solidFill>
                  <a:srgbClr val="39795D"/>
                </a:solidFill>
                <a:latin typeface="Noto Sans CJK SC"/>
              </a:rP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626096" y="3895344"/>
            <a:ext cx="1892807" cy="82296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799831" y="4096512"/>
            <a:ext cx="356616" cy="356616"/>
          </a:xfrm>
          <a:prstGeom prst="ellipse">
            <a:avLst/>
          </a:prstGeom>
          <a:solidFill>
            <a:srgbClr val="3979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877556" y="4183380"/>
            <a:ext cx="201168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000" b="1">
                <a:solidFill>
                  <a:srgbClr val="FFFFFF"/>
                </a:solidFill>
                <a:latin typeface="Noto Sans CJK SC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57031" y="4087368"/>
            <a:ext cx="10972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340" b="1">
                <a:solidFill>
                  <a:srgbClr val="142F3C"/>
                </a:solidFill>
                <a:latin typeface="Noto Sans CJK SC"/>
              </a:rPr>
              <a:t>模型整理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73767" y="4096512"/>
            <a:ext cx="34747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700" b="1">
                <a:solidFill>
                  <a:srgbClr val="39795D"/>
                </a:solidFill>
                <a:latin typeface="Noto Sans CJK SC"/>
              </a:rPr>
              <a:t>→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930384" y="3895344"/>
            <a:ext cx="1892807" cy="822960"/>
          </a:xfrm>
          <a:prstGeom prst="roundRect">
            <a:avLst>
              <a:gd name="adj" fmla="val 13000"/>
            </a:avLst>
          </a:prstGeom>
          <a:solidFill>
            <a:srgbClr val="E6F1E9"/>
          </a:solidFill>
          <a:ln w="10160">
            <a:solidFill>
              <a:srgbClr val="D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104119" y="4096512"/>
            <a:ext cx="356616" cy="356616"/>
          </a:xfrm>
          <a:prstGeom prst="ellipse">
            <a:avLst/>
          </a:prstGeom>
          <a:solidFill>
            <a:srgbClr val="3979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181844" y="4183380"/>
            <a:ext cx="201168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000" b="1">
                <a:solidFill>
                  <a:srgbClr val="FFFFFF"/>
                </a:solidFill>
                <a:latin typeface="Noto Sans CJK SC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61319" y="4087368"/>
            <a:ext cx="10972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340" b="1">
                <a:solidFill>
                  <a:srgbClr val="142F3C"/>
                </a:solidFill>
                <a:latin typeface="Noto Sans CJK SC"/>
              </a:rPr>
              <a:t>页码引用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13232" y="5157216"/>
            <a:ext cx="10789920" cy="877824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13232" y="5157216"/>
            <a:ext cx="91440" cy="877824"/>
          </a:xfrm>
          <a:prstGeom prst="rect">
            <a:avLst/>
          </a:prstGeom>
          <a:solidFill>
            <a:srgbClr val="E5C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87552" y="5276088"/>
            <a:ext cx="192024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>
                <a:solidFill>
                  <a:srgbClr val="142F3C"/>
                </a:solidFill>
                <a:latin typeface="Noto Sans CJK SC"/>
              </a:rPr>
              <a:t>检索不足时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788920" y="5257800"/>
            <a:ext cx="824788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180" b="0">
                <a:solidFill>
                  <a:srgbClr val="668079"/>
                </a:solidFill>
                <a:latin typeface="Noto Sans CJK SC"/>
              </a:rPr>
              <a:t>模型仍给出通顺回答；页面在下方单独说明“未检索到合适教材内容”，不编造出处。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8368" y="6473952"/>
            <a:ext cx="10844784" cy="9144"/>
          </a:xfrm>
          <a:prstGeom prst="rect">
            <a:avLst/>
          </a:prstGeom>
          <a:solidFill>
            <a:srgbClr val="D8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76656" y="6519672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>
                <a:solidFill>
                  <a:srgbClr val="668079"/>
                </a:solidFill>
                <a:latin typeface="Noto Sans CJK SC"/>
              </a:rPr>
              <a:t>知页 TA Agent · 教学研究原型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607040" y="6519672"/>
            <a:ext cx="89611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850" b="0">
                <a:solidFill>
                  <a:srgbClr val="668079"/>
                </a:solidFill>
                <a:latin typeface="Noto Sans CJK SC"/>
              </a:rPr>
              <a:t>04 / 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8368" y="292608"/>
            <a:ext cx="438912" cy="438912"/>
          </a:xfrm>
          <a:prstGeom prst="roundRect">
            <a:avLst>
              <a:gd name="adj" fmla="val 13000"/>
            </a:avLst>
          </a:prstGeom>
          <a:solidFill>
            <a:srgbClr val="E6F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8660" y="315468"/>
            <a:ext cx="33832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900" b="1">
                <a:solidFill>
                  <a:srgbClr val="39795D"/>
                </a:solidFill>
                <a:latin typeface="Noto Sans CJK SC"/>
              </a:rPr>
              <a:t>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25295" y="338328"/>
            <a:ext cx="233172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600" b="1">
                <a:solidFill>
                  <a:srgbClr val="FFFFFF"/>
                </a:solidFill>
                <a:latin typeface="Noto Sans CJK SC"/>
              </a:rPr>
              <a:t>知页 TA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987552"/>
            <a:ext cx="107899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>
                <a:solidFill>
                  <a:srgbClr val="6FA78A"/>
                </a:solidFill>
                <a:latin typeface="Noto Sans CJK SC"/>
              </a:rPr>
              <a:t>04 · LIVE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07592"/>
            <a:ext cx="10881360" cy="5212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2800" b="1">
                <a:solidFill>
                  <a:srgbClr val="FFFFFF"/>
                </a:solidFill>
                <a:latin typeface="Noto Sans CJK SC"/>
              </a:rPr>
              <a:t>现在进入网页演示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1847088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>
                <a:solidFill>
                  <a:srgbClr val="B8D0C7"/>
                </a:solidFill>
                <a:latin typeface="Noto Sans CJK SC"/>
              </a:rPr>
              <a:t>点击下方链接，现场体验 Chat 问答、原文检索与教材阅读。</a:t>
            </a:r>
          </a:p>
        </p:txBody>
      </p:sp>
      <p:sp>
        <p:nvSpPr>
          <p:cNvPr id="9" name="Rounded Rectangle 8">
            <a:hlinkClick r:id="rId2"/>
          </p:cNvPr>
          <p:cNvSpPr/>
          <p:nvPr/>
        </p:nvSpPr>
        <p:spPr>
          <a:xfrm>
            <a:off x="1060704" y="2551176"/>
            <a:ext cx="10067544" cy="2048256"/>
          </a:xfrm>
          <a:prstGeom prst="roundRect">
            <a:avLst>
              <a:gd name="adj" fmla="val 13000"/>
            </a:avLst>
          </a:prstGeom>
          <a:solidFill>
            <a:srgbClr val="203D49"/>
          </a:solidFill>
          <a:ln w="17780">
            <a:solidFill>
              <a:srgbClr val="648F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81328" y="3054096"/>
            <a:ext cx="1024128" cy="1024128"/>
          </a:xfrm>
          <a:prstGeom prst="ellipse">
            <a:avLst/>
          </a:prstGeom>
          <a:solidFill>
            <a:srgbClr val="3979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55064" y="3236976"/>
            <a:ext cx="68580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3000" b="1">
                <a:solidFill>
                  <a:srgbClr val="FFFFFF"/>
                </a:solidFill>
                <a:latin typeface="Noto Sans CJK SC"/>
              </a:rPr>
              <a:t>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07208" y="3008376"/>
            <a:ext cx="705916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>
                <a:solidFill>
                  <a:srgbClr val="FFFFFF"/>
                </a:solidFill>
                <a:latin typeface="Noto Sans CJK SC"/>
              </a:rPr>
              <a:t>打开知页 TA Agent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3621024"/>
            <a:ext cx="699516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700" b="0">
                <a:solidFill>
                  <a:srgbClr val="ACD8B9"/>
                </a:solidFill>
                <a:latin typeface="Noto Sans CJK SC"/>
                <a:hlinkClick r:id="rId2"/>
              </a:rPr>
              <a:t>http://127.0.0.1:8000/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983480"/>
            <a:ext cx="99669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220" b="0">
                <a:solidFill>
                  <a:srgbClr val="B7CEC2"/>
                </a:solidFill>
                <a:latin typeface="Noto Sans CJK SC"/>
              </a:rPr>
              <a:t>本机演示 · 请先在演示电脑启动服务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6473952"/>
            <a:ext cx="10844784" cy="9144"/>
          </a:xfrm>
          <a:prstGeom prst="rect">
            <a:avLst/>
          </a:prstGeom>
          <a:solidFill>
            <a:srgbClr val="416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" y="6519672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>
                <a:solidFill>
                  <a:srgbClr val="9AB8AB"/>
                </a:solidFill>
                <a:latin typeface="Noto Sans CJK SC"/>
              </a:rPr>
              <a:t>知页 TA Agent · 教学研究原型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0" y="6519672"/>
            <a:ext cx="89611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850" b="0">
                <a:solidFill>
                  <a:srgbClr val="9AB8AB"/>
                </a:solidFill>
                <a:latin typeface="Noto Sans CJK SC"/>
              </a:rPr>
              <a:t>05 / 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8368" y="292608"/>
            <a:ext cx="438912" cy="438912"/>
          </a:xfrm>
          <a:prstGeom prst="roundRect">
            <a:avLst>
              <a:gd name="adj" fmla="val 13000"/>
            </a:avLst>
          </a:prstGeom>
          <a:solidFill>
            <a:srgbClr val="3979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8660" y="315468"/>
            <a:ext cx="33832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900" b="1">
                <a:solidFill>
                  <a:srgbClr val="FFFFFF"/>
                </a:solidFill>
                <a:latin typeface="Noto Sans CJK SC"/>
              </a:rPr>
              <a:t>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25295" y="338328"/>
            <a:ext cx="233172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600" b="1">
                <a:solidFill>
                  <a:srgbClr val="142F3C"/>
                </a:solidFill>
                <a:latin typeface="Noto Sans CJK SC"/>
              </a:rPr>
              <a:t>知页 TA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987552"/>
            <a:ext cx="107899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>
                <a:solidFill>
                  <a:srgbClr val="39795D"/>
                </a:solidFill>
                <a:latin typeface="Noto Sans CJK SC"/>
              </a:rPr>
              <a:t>05 · VALUE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07592"/>
            <a:ext cx="10881360" cy="5212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2800" b="1">
                <a:solidFill>
                  <a:srgbClr val="142F3C"/>
                </a:solidFill>
                <a:latin typeface="Noto Sans CJK SC"/>
              </a:rPr>
              <a:t>优势与便利性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1847088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>
                <a:solidFill>
                  <a:srgbClr val="668079"/>
                </a:solidFill>
                <a:latin typeface="Noto Sans CJK SC"/>
              </a:rPr>
              <a:t>让教师备课与学生自学都更快、更容易核验。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" y="2459736"/>
            <a:ext cx="5266944" cy="141732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" y="2697480"/>
            <a:ext cx="566928" cy="566928"/>
          </a:xfrm>
          <a:prstGeom prst="ellipse">
            <a:avLst/>
          </a:prstGeom>
          <a:solidFill>
            <a:srgbClr val="E6F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96695" y="2807208"/>
            <a:ext cx="356616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300" b="1">
                <a:solidFill>
                  <a:srgbClr val="39795D"/>
                </a:solidFill>
                <a:latin typeface="Noto Sans CJK SC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64208" y="2715768"/>
            <a:ext cx="386791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839" b="1">
                <a:solidFill>
                  <a:srgbClr val="142F3C"/>
                </a:solidFill>
                <a:latin typeface="Noto Sans CJK SC"/>
              </a:rPr>
              <a:t>有据可查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4208" y="3172968"/>
            <a:ext cx="38679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668079"/>
                </a:solidFill>
                <a:latin typeface="Noto Sans CJK SC"/>
              </a:rPr>
              <a:t>答案附教材名称和页码，点击即可回到原文。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2459736"/>
            <a:ext cx="5266944" cy="141732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28232" y="2697480"/>
            <a:ext cx="566928" cy="566928"/>
          </a:xfrm>
          <a:prstGeom prst="ellipse">
            <a:avLst/>
          </a:prstGeom>
          <a:solidFill>
            <a:srgbClr val="E6F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28816" y="2807208"/>
            <a:ext cx="356616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300" b="1">
                <a:solidFill>
                  <a:srgbClr val="39795D"/>
                </a:solidFill>
                <a:latin typeface="Noto Sans CJK SC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96328" y="2715768"/>
            <a:ext cx="386791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839" b="1">
                <a:solidFill>
                  <a:srgbClr val="142F3C"/>
                </a:solidFill>
                <a:latin typeface="Noto Sans CJK SC"/>
              </a:rPr>
              <a:t>更容易找到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96328" y="3172968"/>
            <a:ext cx="38679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668079"/>
                </a:solidFill>
                <a:latin typeface="Noto Sans CJK SC"/>
              </a:rPr>
              <a:t>自然问句、模糊词和错别字也能进入检索。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7512" y="4142232"/>
            <a:ext cx="5266944" cy="141732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96112" y="4379976"/>
            <a:ext cx="566928" cy="566928"/>
          </a:xfrm>
          <a:prstGeom prst="ellipse">
            <a:avLst/>
          </a:prstGeom>
          <a:solidFill>
            <a:srgbClr val="E6F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6695" y="4489704"/>
            <a:ext cx="356616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300" b="1">
                <a:solidFill>
                  <a:srgbClr val="39795D"/>
                </a:solidFill>
                <a:latin typeface="Noto Sans CJK SC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64208" y="4398264"/>
            <a:ext cx="386791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839" b="1">
                <a:solidFill>
                  <a:srgbClr val="142F3C"/>
                </a:solidFill>
                <a:latin typeface="Noto Sans CJK SC"/>
              </a:rPr>
              <a:t>跨章节整合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64208" y="4855464"/>
            <a:ext cx="38679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668079"/>
                </a:solidFill>
                <a:latin typeface="Noto Sans CJK SC"/>
              </a:rPr>
              <a:t>把多页、多册的相关信息整理成连贯解释。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99632" y="4142232"/>
            <a:ext cx="5266944" cy="141732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28232" y="4379976"/>
            <a:ext cx="566928" cy="566928"/>
          </a:xfrm>
          <a:prstGeom prst="ellipse">
            <a:avLst/>
          </a:prstGeom>
          <a:solidFill>
            <a:srgbClr val="E6F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28816" y="4489704"/>
            <a:ext cx="356616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300" b="1">
                <a:solidFill>
                  <a:srgbClr val="39795D"/>
                </a:solidFill>
                <a:latin typeface="Noto Sans CJK SC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96328" y="4398264"/>
            <a:ext cx="386791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839" b="1">
                <a:solidFill>
                  <a:srgbClr val="142F3C"/>
                </a:solidFill>
                <a:latin typeface="Noto Sans CJK SC"/>
              </a:rPr>
              <a:t>学习不中断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96328" y="4855464"/>
            <a:ext cx="38679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668079"/>
                </a:solidFill>
                <a:latin typeface="Noto Sans CJK SC"/>
              </a:rPr>
              <a:t>保留最近 10 个会话与 10 次检索，继续查读。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6473952"/>
            <a:ext cx="10844784" cy="9144"/>
          </a:xfrm>
          <a:prstGeom prst="rect">
            <a:avLst/>
          </a:prstGeom>
          <a:solidFill>
            <a:srgbClr val="D8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6656" y="6519672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>
                <a:solidFill>
                  <a:srgbClr val="668079"/>
                </a:solidFill>
                <a:latin typeface="Noto Sans CJK SC"/>
              </a:rPr>
              <a:t>知页 TA Agent · 教学研究原型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07040" y="6519672"/>
            <a:ext cx="89611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850" b="0">
                <a:solidFill>
                  <a:srgbClr val="668079"/>
                </a:solidFill>
                <a:latin typeface="Noto Sans CJK SC"/>
              </a:rPr>
              <a:t>06 / 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8368" y="292608"/>
            <a:ext cx="438912" cy="438912"/>
          </a:xfrm>
          <a:prstGeom prst="roundRect">
            <a:avLst>
              <a:gd name="adj" fmla="val 13000"/>
            </a:avLst>
          </a:prstGeom>
          <a:solidFill>
            <a:srgbClr val="3979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8660" y="315468"/>
            <a:ext cx="33832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900" b="1">
                <a:solidFill>
                  <a:srgbClr val="FFFFFF"/>
                </a:solidFill>
                <a:latin typeface="Noto Sans CJK SC"/>
              </a:rPr>
              <a:t>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25295" y="338328"/>
            <a:ext cx="233172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600" b="1">
                <a:solidFill>
                  <a:srgbClr val="142F3C"/>
                </a:solidFill>
                <a:latin typeface="Noto Sans CJK SC"/>
              </a:rPr>
              <a:t>知页 TA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987552"/>
            <a:ext cx="107899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>
                <a:solidFill>
                  <a:srgbClr val="39795D"/>
                </a:solidFill>
                <a:latin typeface="Noto Sans CJK SC"/>
              </a:rPr>
              <a:t>06 · NEXT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07592"/>
            <a:ext cx="10881360" cy="5212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2800" b="1">
                <a:solidFill>
                  <a:srgbClr val="142F3C"/>
                </a:solidFill>
                <a:latin typeface="Noto Sans CJK SC"/>
              </a:rPr>
              <a:t>下一步：让教材知识服务更多教学场景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1847088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>
                <a:solidFill>
                  <a:srgbClr val="668079"/>
                </a:solidFill>
                <a:latin typeface="Noto Sans CJK SC"/>
              </a:rPr>
              <a:t>在保持页码可核验的前提下，逐步扩大覆盖与能力。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532888"/>
            <a:ext cx="2249424" cy="289864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50392" y="2816352"/>
            <a:ext cx="548640" cy="548640"/>
          </a:xfrm>
          <a:prstGeom prst="ellipse">
            <a:avLst/>
          </a:prstGeom>
          <a:solidFill>
            <a:srgbClr val="E6F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2935224"/>
            <a:ext cx="34747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39795D"/>
                </a:solidFill>
                <a:latin typeface="Noto Sans CJK SC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3630168"/>
            <a:ext cx="1865376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660" b="1">
                <a:solidFill>
                  <a:srgbClr val="142F3C"/>
                </a:solidFill>
                <a:latin typeface="Noto Sans CJK SC"/>
              </a:rPr>
              <a:t>扫描页 OCR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4224528"/>
            <a:ext cx="1865376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3000"/>
              </a:lnSpc>
            </a:pPr>
            <a:r>
              <a:rPr sz="1160" b="0">
                <a:solidFill>
                  <a:srgbClr val="668079"/>
                </a:solidFill>
                <a:latin typeface="Noto Sans CJK SC"/>
              </a:rPr>
              <a:t>补齐暂无文字层的教材页面，让图中文字也能被检索。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38728" y="2532888"/>
            <a:ext cx="2249424" cy="289864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730752" y="2816352"/>
            <a:ext cx="548640" cy="548640"/>
          </a:xfrm>
          <a:prstGeom prst="ellipse">
            <a:avLst/>
          </a:prstGeom>
          <a:solidFill>
            <a:srgbClr val="E6F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31336" y="2935224"/>
            <a:ext cx="34747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39795D"/>
                </a:solidFill>
                <a:latin typeface="Noto Sans CJK SC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30752" y="3630168"/>
            <a:ext cx="1865376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660" b="1">
                <a:solidFill>
                  <a:srgbClr val="142F3C"/>
                </a:solidFill>
                <a:latin typeface="Noto Sans CJK SC"/>
              </a:rPr>
              <a:t>多版本教材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30752" y="4224528"/>
            <a:ext cx="1865376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3000"/>
              </a:lnSpc>
            </a:pPr>
            <a:r>
              <a:rPr sz="1160" b="0">
                <a:solidFill>
                  <a:srgbClr val="668079"/>
                </a:solidFill>
                <a:latin typeface="Noto Sans CJK SC"/>
              </a:rPr>
              <a:t>按授权接入更多版本与校本资料，并保留版本标识。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19088" y="2532888"/>
            <a:ext cx="2249424" cy="289864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611112" y="2816352"/>
            <a:ext cx="548640" cy="548640"/>
          </a:xfrm>
          <a:prstGeom prst="ellipse">
            <a:avLst/>
          </a:prstGeom>
          <a:solidFill>
            <a:srgbClr val="E6F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11696" y="2935224"/>
            <a:ext cx="34747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39795D"/>
                </a:solidFill>
                <a:latin typeface="Noto Sans CJK SC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11112" y="3630168"/>
            <a:ext cx="1865376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660" b="1">
                <a:solidFill>
                  <a:srgbClr val="142F3C"/>
                </a:solidFill>
                <a:latin typeface="Noto Sans CJK SC"/>
              </a:rPr>
              <a:t>图文联合检索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11112" y="4224528"/>
            <a:ext cx="1865376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3000"/>
              </a:lnSpc>
            </a:pPr>
            <a:r>
              <a:rPr sz="1160" b="0">
                <a:solidFill>
                  <a:srgbClr val="668079"/>
                </a:solidFill>
                <a:latin typeface="Noto Sans CJK SC"/>
              </a:rPr>
              <a:t>把示意图、表格与相邻正文关联，帮助理解复杂概念。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99448" y="2532888"/>
            <a:ext cx="2249424" cy="289864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491472" y="2816352"/>
            <a:ext cx="548640" cy="548640"/>
          </a:xfrm>
          <a:prstGeom prst="ellipse">
            <a:avLst/>
          </a:prstGeom>
          <a:solidFill>
            <a:srgbClr val="E6F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92056" y="2935224"/>
            <a:ext cx="34747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39795D"/>
                </a:solidFill>
                <a:latin typeface="Noto Sans CJK SC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91472" y="3630168"/>
            <a:ext cx="1865376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660" b="1">
                <a:solidFill>
                  <a:srgbClr val="142F3C"/>
                </a:solidFill>
                <a:latin typeface="Noto Sans CJK SC"/>
              </a:rPr>
              <a:t>个性化学习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91472" y="4224528"/>
            <a:ext cx="1865376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3000"/>
              </a:lnSpc>
            </a:pPr>
            <a:r>
              <a:rPr sz="1160" b="0">
                <a:solidFill>
                  <a:srgbClr val="668079"/>
                </a:solidFill>
                <a:latin typeface="Noto Sans CJK SC"/>
              </a:rPr>
              <a:t>形成适配年级和学习目标的复习线索与练习建议。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" y="5751576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39795D"/>
                </a:solidFill>
                <a:latin typeface="Noto Sans CJK SC"/>
              </a:rPr>
              <a:t>欢迎交流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74519" y="5733288"/>
            <a:ext cx="36118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140" b="0">
                <a:solidFill>
                  <a:srgbClr val="142F3C"/>
                </a:solidFill>
                <a:latin typeface="Noto Sans CJK SC"/>
                <a:hlinkClick r:id="rId2"/>
              </a:rPr>
              <a:t>serendipity_lin@sjtu.edu.cn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78040" y="5733288"/>
            <a:ext cx="42519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140" b="0">
                <a:solidFill>
                  <a:srgbClr val="142F3C"/>
                </a:solidFill>
                <a:latin typeface="Noto Sans CJK SC"/>
                <a:hlinkClick r:id="rId3"/>
              </a:rPr>
              <a:t>serendipitylin0731.github.io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" y="6473952"/>
            <a:ext cx="10844784" cy="9144"/>
          </a:xfrm>
          <a:prstGeom prst="rect">
            <a:avLst/>
          </a:prstGeom>
          <a:solidFill>
            <a:srgbClr val="D8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6656" y="6519672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>
                <a:solidFill>
                  <a:srgbClr val="668079"/>
                </a:solidFill>
                <a:latin typeface="Noto Sans CJK SC"/>
              </a:rPr>
              <a:t>知页 TA Agent · 教学研究原型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07040" y="6519672"/>
            <a:ext cx="89611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850" b="0">
                <a:solidFill>
                  <a:srgbClr val="668079"/>
                </a:solidFill>
                <a:latin typeface="Noto Sans CJK SC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